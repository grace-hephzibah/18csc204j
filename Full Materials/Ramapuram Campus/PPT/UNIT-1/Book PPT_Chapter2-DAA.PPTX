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8" r:id="rId1"/>
  </p:sldMasterIdLst>
  <p:sldIdLst>
    <p:sldId id="295" r:id="rId2"/>
    <p:sldId id="29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58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CC99FF"/>
    <a:srgbClr val="9966F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81" d="100"/>
          <a:sy n="81" d="100"/>
        </p:scale>
        <p:origin x="-774" y="-6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27462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0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54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13"/>
          <p:cNvSpPr>
            <a:spLocks noChangeArrowheads="1"/>
          </p:cNvSpPr>
          <p:nvPr userDrawn="1"/>
        </p:nvSpPr>
        <p:spPr bwMode="auto">
          <a:xfrm>
            <a:off x="1943100" y="6519862"/>
            <a:ext cx="565345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600" dirty="0"/>
              <a:t>© Oxford University Press </a:t>
            </a:r>
            <a:r>
              <a:rPr lang="en-US" altLang="en-US" sz="1600" dirty="0" smtClean="0"/>
              <a:t>2014. </a:t>
            </a:r>
            <a:r>
              <a:rPr lang="en-US" altLang="en-US" sz="1600" dirty="0"/>
              <a:t>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5480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49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468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3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96DFF08F-DC6B-4601-B491-B0F83F6DD2DA}" type="datetimeFigureOut">
              <a:rPr lang="en-US" smtClean="0"/>
              <a:t>1/13/2015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029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791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smtClean="0"/>
              <a:t>1/13/2015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33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4948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3"/>
            <a:ext cx="7584948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96DFF08F-DC6B-4601-B491-B0F83F6DD2DA}" type="datetimeFigureOut">
              <a:rPr lang="en-US" smtClean="0"/>
              <a:t>1/13/2015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894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96DFF08F-DC6B-4601-B491-B0F83F6DD2DA}" type="datetimeFigureOut">
              <a:rPr lang="en-US" smtClean="0"/>
              <a:t>1/13/2015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3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8"/>
            <a:ext cx="5800725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fld id="{96DFF08F-DC6B-4601-B491-B0F83F6DD2DA}" type="datetimeFigureOut">
              <a:rPr lang="en-US" smtClean="0"/>
              <a:t>1/13/2015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94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5351" y="286605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5734"/>
            <a:ext cx="75438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41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6544" y="1600200"/>
            <a:ext cx="4953000" cy="1752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 and Analysis of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3276600"/>
            <a:ext cx="4038600" cy="1752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 Sridhar </a:t>
            </a:r>
          </a:p>
        </p:txBody>
      </p:sp>
      <p:pic>
        <p:nvPicPr>
          <p:cNvPr id="1026" name="Picture 2" descr="C:\Users\riteeka.sharma.INOUP\Desktop\DAA - Cover - To Marketin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3904144" cy="512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(NEW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738" y="3"/>
            <a:ext cx="1846262" cy="121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937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 txBox="1">
            <a:spLocks/>
          </p:cNvSpPr>
          <p:nvPr/>
        </p:nvSpPr>
        <p:spPr>
          <a:xfrm>
            <a:off x="918029" y="1219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914400">
              <a:spcBef>
                <a:spcPct val="0"/>
              </a:spcBef>
              <a:buNone/>
              <a:defRPr sz="6000" b="1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dirty="0">
                <a:solidFill>
                  <a:schemeClr val="tx1"/>
                </a:solidFill>
              </a:rPr>
              <a:t>Chapter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/>
          <p:cNvSpPr txBox="1">
            <a:spLocks/>
          </p:cNvSpPr>
          <p:nvPr/>
        </p:nvSpPr>
        <p:spPr bwMode="auto">
          <a:xfrm>
            <a:off x="914400" y="2968171"/>
            <a:ext cx="8229600" cy="1752600"/>
          </a:xfrm>
          <a:prstGeom prst="rect">
            <a:avLst/>
          </a:prstGeom>
          <a:extLst/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algn="ctr" defTabSz="914400">
              <a:spcBef>
                <a:spcPct val="0"/>
              </a:spcBef>
              <a:buNone/>
              <a:defRPr sz="6000" b="1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dirty="0">
                <a:solidFill>
                  <a:schemeClr val="tx1"/>
                </a:solidFill>
              </a:rPr>
              <a:t>Basics of Algorithm Writing</a:t>
            </a:r>
          </a:p>
        </p:txBody>
      </p:sp>
    </p:spTree>
    <p:extLst>
      <p:ext uri="{BB962C8B-B14F-4D97-AF65-F5344CB8AC3E}">
        <p14:creationId xmlns:p14="http://schemas.microsoft.com/office/powerpoint/2010/main" val="366557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7532" y="1624979"/>
            <a:ext cx="2588761" cy="36137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Objectives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150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997" y="2126289"/>
            <a:ext cx="7543800" cy="4023360"/>
          </a:xfrm>
        </p:spPr>
        <p:txBody>
          <a:bodyPr/>
          <a:lstStyle/>
          <a:p>
            <a:r>
              <a:rPr lang="en-US" dirty="0" smtClean="0"/>
              <a:t>An algorithm is a set of instructions to solve a given problem.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09" y="1600199"/>
            <a:ext cx="8908382" cy="43102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Stepwise</a:t>
            </a:r>
            <a:r>
              <a:rPr kumimoji="0" lang="en-US" sz="48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refinement?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27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597354"/>
            <a:ext cx="7543800" cy="2520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/>
              <a:t>Advantages of Stepwise refinement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61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3134340"/>
            <a:ext cx="7543800" cy="144657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400" dirty="0" smtClean="0"/>
              <a:t>Disadvantages </a:t>
            </a:r>
            <a:r>
              <a:rPr lang="en-US" sz="4400" dirty="0"/>
              <a:t>of Stepwise refinement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03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862" y="2636505"/>
            <a:ext cx="5177521" cy="2442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Top-down 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32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" y="2693184"/>
            <a:ext cx="7543800" cy="141448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Bottom-up Design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7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80" y="1810713"/>
            <a:ext cx="8837972" cy="448411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Comparisons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0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696850"/>
            <a:ext cx="7543800" cy="232155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Structured Programming Structures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06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00" y="2621280"/>
            <a:ext cx="3045601" cy="1615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Selection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22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597727"/>
            <a:ext cx="7543800" cy="209447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Repetition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90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6569" y="2043692"/>
            <a:ext cx="5357384" cy="411811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Algorithm Design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23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811" y="2388466"/>
            <a:ext cx="6319622" cy="29383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Block Structure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45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939427"/>
            <a:ext cx="7543800" cy="18363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If-then-else Statement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920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243228"/>
            <a:ext cx="7543800" cy="322879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Case Statement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84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317532"/>
            <a:ext cx="7543800" cy="239451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Repeat Statement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60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4349" y="2223382"/>
            <a:ext cx="7081022" cy="9667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118" y="3569552"/>
            <a:ext cx="6509972" cy="10048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349" y="5022294"/>
            <a:ext cx="7119092" cy="915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Repeat Statement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3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177262"/>
            <a:ext cx="7543800" cy="336072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Break Statement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7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3290778"/>
            <a:ext cx="7543800" cy="11336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Return Statement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50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835346"/>
            <a:ext cx="7543800" cy="204456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Recursive Algorithms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40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139072"/>
            <a:ext cx="7543800" cy="34371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400" noProof="0" dirty="0" smtClean="0"/>
              <a:t>Example Algorithms-Pay calculations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827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691" y="2172226"/>
            <a:ext cx="7537862" cy="337080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000" noProof="0" dirty="0" smtClean="0"/>
              <a:t>Example 2-Fahrenheit to Celsius conversion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045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" y="2222939"/>
            <a:ext cx="7543800" cy="342111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Example 3-Armstrong number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07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4" y="1260231"/>
            <a:ext cx="8777331" cy="449660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Armstrong Number Algorithm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54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056" y="1846264"/>
            <a:ext cx="7013132" cy="40227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Another Example-Euclid algorithm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87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7177" y="2140426"/>
            <a:ext cx="4834891" cy="343440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Encryption Algorithm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20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010942"/>
            <a:ext cx="7543800" cy="369336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Encryption Algorithm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67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5396" y="1846264"/>
            <a:ext cx="5665643" cy="40227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Algorithm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31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761" y="2178586"/>
            <a:ext cx="7461722" cy="335808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Recursive Algorithm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84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270011"/>
            <a:ext cx="7543800" cy="317523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noProof="0" dirty="0" smtClean="0"/>
              <a:t>Fibonacci Numbers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858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917" y="3088065"/>
            <a:ext cx="6205411" cy="153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err="1" smtClean="0"/>
              <a:t>Collatz</a:t>
            </a:r>
            <a:r>
              <a:rPr lang="en-US" sz="4800" dirty="0" smtClean="0"/>
              <a:t> Numbers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13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346" y="1846264"/>
            <a:ext cx="6782552" cy="40227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err="1" smtClean="0"/>
              <a:t>Collatz</a:t>
            </a:r>
            <a:r>
              <a:rPr lang="en-US" sz="4800" dirty="0" smtClean="0"/>
              <a:t> Numbers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832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353429"/>
            <a:ext cx="7543800" cy="30083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Towers of Hanoi Algorithms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70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1960" y="1846264"/>
            <a:ext cx="5985325" cy="40227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Algorithm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349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427191"/>
            <a:ext cx="7543800" cy="286087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Progress Correctness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722" y="2276010"/>
            <a:ext cx="7543800" cy="316323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Proof Procedure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40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3614" y="1846264"/>
            <a:ext cx="2442017" cy="40227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 dirty="0" smtClean="0"/>
              <a:t>Glossary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40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6589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Glossary - 2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053" y="1101437"/>
            <a:ext cx="5065568" cy="476755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0"/>
            <a:ext cx="9144000" cy="838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8064A2">
                  <a:lumMod val="40000"/>
                  <a:lumOff val="60000"/>
                </a:srgbClr>
              </a:gs>
              <a:gs pos="100000">
                <a:srgbClr val="66008F"/>
              </a:gs>
              <a:gs pos="100000">
                <a:srgbClr val="BA0066"/>
              </a:gs>
              <a:gs pos="100000">
                <a:srgbClr val="FF0000"/>
              </a:gs>
              <a:gs pos="100000">
                <a:srgbClr val="FF8200"/>
              </a:gs>
            </a:gsLst>
            <a:lin ang="2700000" scaled="0"/>
            <a:tileRect/>
          </a:gradFill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anchor="ctr"/>
          <a:lstStyle/>
          <a:p>
            <a:pPr lvl="0" algn="ctr" defTabSz="914400">
              <a:defRPr/>
            </a:pPr>
            <a:r>
              <a:rPr lang="en-US" sz="4800"/>
              <a:t>Glossary</a:t>
            </a:r>
            <a:endParaRPr lang="en-US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73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133</TotalTime>
  <Words>114</Words>
  <Application>Microsoft Office PowerPoint</Application>
  <PresentationFormat>On-screen Show (4:3)</PresentationFormat>
  <Paragraphs>44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Retrospect</vt:lpstr>
      <vt:lpstr>Design and Analysis of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Glossary - 2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algorithms</dc:title>
  <dc:creator>admin</dc:creator>
  <cp:lastModifiedBy>Sharma, Riteeka</cp:lastModifiedBy>
  <cp:revision>76</cp:revision>
  <dcterms:created xsi:type="dcterms:W3CDTF">2014-10-21T06:23:25Z</dcterms:created>
  <dcterms:modified xsi:type="dcterms:W3CDTF">2015-01-13T09:32:17Z</dcterms:modified>
</cp:coreProperties>
</file>